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0" y="1097280"/>
            <a:ext cx="3657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0" i="0">
                <a:solidFill>
                  <a:srgbClr val="0A2A1E"/>
                </a:solidFill>
                <a:latin typeface="Segoe UI Emoji"/>
              </a:rPr>
              <a:t>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UNIVERSITY OF SOUTHERN PUNJAB, MULTAN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10B981"/>
                </a:solidFill>
                <a:latin typeface="Calibri"/>
              </a:rPr>
              <a:t>ShareMeal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7315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CA3AF"/>
                </a:solidFill>
                <a:latin typeface="Calibri"/>
              </a:rPr>
              <a:t>Connecting Food.  Reducing Waste.  Saving Lives.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5029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069080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Final Year Project (FYP)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16552"/>
            <a:ext cx="6400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Supervisor:  Prof. Kinat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64024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Developers:  Muhammad Khulfan   |   Abdullah Khalid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1114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BSCS  —  University of Southern Punjab, Multan  — 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TABLE OF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Presentation Overview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164592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270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90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181965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Food waste crisis in Pakistan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95144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04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36829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Solution Overview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697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ShareMeal Platform — what it does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282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855F7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5753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MVC pattern, flow diagram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50792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Key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4531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8 major features explained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28616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03834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33095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ASP.NET Core, SQLite, Gemini AI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1417320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152704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B82F6"/>
                </a:solidFill>
                <a:latin typeface="Calibr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22592" y="14904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Database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1819656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Models, tables, relationships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295144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40487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A855F7"/>
                </a:solidFill>
                <a:latin typeface="Calibr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22592" y="236829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Integration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22592" y="26974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MealBot — Google Gemini 2.0 Flash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3172968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328269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9E0B"/>
                </a:solidFill>
                <a:latin typeface="Calibr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22592" y="3246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Live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22592" y="3575304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Docker + Railway.app + CI/CD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4050792"/>
            <a:ext cx="5303520" cy="749808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1605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Calibri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22592" y="412394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Team &amp; Supervisor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2592" y="445312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Muhammad Khulfan, Abdullah Khalid, Prof. Kinat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F4444"/>
                </a:solidFill>
                <a:latin typeface="Calibri"/>
              </a:rPr>
              <a:t>01  ·  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Pakistan's Food Crisis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28600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F4444"/>
                </a:solidFill>
                <a:latin typeface="Segoe UI Emoji"/>
              </a:rPr>
              <a:t>🗑️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EF4444"/>
                </a:solidFill>
                <a:latin typeface="Calibri"/>
              </a:rPr>
              <a:t>36%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Food Wasted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Of all food produced in Pakistan is wasted annually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F59E0B"/>
                </a:solidFill>
                <a:latin typeface="Segoe UI Emoji"/>
              </a:rPr>
              <a:t>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59E0B"/>
                </a:solidFill>
                <a:latin typeface="Calibri"/>
              </a:rPr>
              <a:t>2 Cr+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People Hungry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People sleep hungry every night in Pakistan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80" y="1417320"/>
            <a:ext cx="3566160" cy="256032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554480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A855F7"/>
                </a:solidFill>
                <a:latin typeface="Segoe UI Emoji"/>
              </a:rPr>
              <a:t>🍽️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572768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A855F7"/>
                </a:solidFill>
                <a:latin typeface="Calibri"/>
              </a:rPr>
              <a:t>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30428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Restaurants Waste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670048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Restaurants throw away leftover food daily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160520"/>
            <a:ext cx="11155680" cy="10972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15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Root Cause: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427939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A3AF"/>
                </a:solidFill>
                <a:latin typeface="Calibri"/>
              </a:rPr>
              <a:t>There is NO platform in Pakistan that connects food-surplus restaurants with food-deficient charities in real time. Food gets wasted while millions go hungry — simply due to lack of coordination.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02  ·  SOLUTION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ShareMeal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8288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66420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10B981"/>
                </a:solidFill>
                <a:latin typeface="Segoe UI Emoji"/>
              </a:rPr>
              <a:t>🍽️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6459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Restaurant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0299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Donate Food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Post available food in one click. Manage donations, track status, view history.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46304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66420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3B82F6"/>
                </a:solidFill>
                <a:latin typeface="Segoe UI Emoji"/>
              </a:rPr>
              <a:t>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6459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Charity Portal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02996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B82F6"/>
                </a:solidFill>
                <a:latin typeface="Calibri"/>
              </a:rPr>
              <a:t>Claim Food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45059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Browse the food marketplace, claim donations, coordinate pickup with restaurant.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85876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A855F7"/>
                </a:solidFill>
                <a:latin typeface="Segoe UI Emoji"/>
              </a:rPr>
              <a:t>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8404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Admin Panel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224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55F7"/>
                </a:solidFill>
                <a:latin typeface="Calibri"/>
              </a:rPr>
              <a:t>Manage 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64515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Approve/reject organizations, monitor all activity, suspend accounts if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57600"/>
            <a:ext cx="539496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3858768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59E0B"/>
                </a:solidFill>
                <a:latin typeface="Segoe UI Emoji"/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84048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MealBot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4224528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AI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645152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Google Gemini powered chatbot — answers in Roman Urdu &amp; English 24/7.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5F7"/>
                </a:solidFill>
                <a:latin typeface="Calibri"/>
              </a:rPr>
              <a:t>03  · 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MVC Architecture &amp;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28600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0B981"/>
                </a:solidFill>
                <a:latin typeface="Segoe UI Emoji"/>
              </a:rPr>
              <a:t>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User
(Browser)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3B82F6"/>
                </a:solidFill>
                <a:latin typeface="Segoe UI Emoji"/>
              </a:rPr>
              <a:t>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Controller
(Traffic Police)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6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A855F7"/>
                </a:solidFill>
                <a:latin typeface="Segoe UI Emoji"/>
              </a:rPr>
              <a:t>🗄️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Database
(SQLite)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F59E0B"/>
                </a:solidFill>
                <a:latin typeface="Segoe UI Emoj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Gemini AI
(Google)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2103120"/>
            <a:ext cx="411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B5563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508760"/>
            <a:ext cx="182880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10B981"/>
                </a:solidFill>
                <a:latin typeface="Segoe UI Emoji"/>
              </a:rPr>
              <a:t>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221992"/>
            <a:ext cx="1828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View (UI)
(Razor + Tailwind)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090672"/>
            <a:ext cx="54864" cy="1737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MVC Pattern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Model → View → Controller
Industry standard architecture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3756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37560" y="3090672"/>
            <a:ext cx="54864" cy="1737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0215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Dependency Injection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215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Services loosely coupled
Easy to swap or extend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090672"/>
            <a:ext cx="54864" cy="1737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8251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Repository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251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Data access abstracted via DbContext
Clean separation of concerns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98280" y="3090672"/>
            <a:ext cx="2697480" cy="173736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98280" y="3090672"/>
            <a:ext cx="54864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62872" y="32004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Interface Abstraction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2872" y="3611880"/>
            <a:ext cx="2468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IGeminiAiService interface
AI service can be replaced without breaking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04  ·  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8 Major Features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37160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0B981"/>
                </a:solidFill>
                <a:latin typeface="Segoe UI Emoji"/>
              </a:rPr>
              <a:t>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Role-Based Authentication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Separate login for Restaurant, Charity &amp; Admin with ASP.NET Identity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9272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B82F6"/>
                </a:solidFill>
                <a:latin typeface="Segoe UI Emoji"/>
              </a:rPr>
              <a:t>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Food Marketplace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Real-time listing of available donations. Charities browse &amp; claim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27064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855F7"/>
                </a:solidFill>
                <a:latin typeface="Segoe UI Emoji"/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 Chatbot (MealBot)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Google Gemini 2.0 Flash — bilingual chatbot (Urdu + English)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34856" y="1417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4856" y="1527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9E0B"/>
                </a:solidFill>
                <a:latin typeface="Segoe UI Emoji"/>
              </a:rPr>
              <a:t>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6" y="2194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Voice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624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Web Speech API — speak your query, it converts to text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10B981"/>
                </a:solidFill>
                <a:latin typeface="Segoe UI Emoji"/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Admin Verification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Admin approves/rejects organizations — trust &amp; safety layer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19272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9272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3B82F6"/>
                </a:solidFill>
                <a:latin typeface="Segoe UI Emoji"/>
              </a:rPr>
              <a:t>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6432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Live Dashboard Stats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6432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Real-time count of donations, organizations &amp; meals served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A855F7"/>
                </a:solidFill>
                <a:latin typeface="Segoe UI Emoji"/>
              </a:rPr>
              <a:t>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Fully Responsive UI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Works on mobile, tablet, desktop — Tailwind CSS framework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34856" y="3703320"/>
            <a:ext cx="2743200" cy="20574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34856" y="3813048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9E0B"/>
                </a:solidFill>
                <a:latin typeface="Segoe UI Emoji"/>
              </a:rPr>
              <a:t>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72016" y="44805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Live Internet Deployment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2016" y="491032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CA3AF"/>
                </a:solidFill>
                <a:latin typeface="Calibri"/>
              </a:rPr>
              <a:t>Hosted on Railway.app with HTTPS, Docker, CI/CD auto-deploy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05  ·  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Technologies Used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8288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274320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⚙️  Backend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31720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ASP.NET Core 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807208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C# Language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3282696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Entity Framework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758184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ASP.NET Identity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233672"/>
            <a:ext cx="731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Razor Pages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9272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1417320"/>
            <a:ext cx="2743200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19272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🎨  Frontend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02152" y="2331720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Razor Views (.cshtml)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2807208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3320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Tailwind CSS v3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02152" y="3282696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Vanilla JavaScript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758184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03320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Web Speech API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02152" y="4233672"/>
            <a:ext cx="731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Chart.js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27064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7064" y="1417320"/>
            <a:ext cx="2743200" cy="7772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🤖  AI &amp; APIs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9944" y="2331720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Google Gemini 2.0 Flash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9944" y="2807208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1112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REST API (HttpClient)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9944" y="3282696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11112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System Prompt Engineering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9944" y="3758184"/>
            <a:ext cx="731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Dependency Injection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34856" y="1417320"/>
            <a:ext cx="2743200" cy="4800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134856" y="1417320"/>
            <a:ext cx="274320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4856" y="1536192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20617"/>
                </a:solidFill>
                <a:latin typeface="Calibri"/>
              </a:rPr>
              <a:t>🚀  DevOps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317736" y="2331720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8904" y="227685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Docker + Dockerfile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317736" y="2807208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18904" y="27523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Railway.app Hosting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17736" y="3282696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18904" y="322783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GitHub + CI/CD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17736" y="3758184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18904" y="37033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HTTPS / SSL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17736" y="4233672"/>
            <a:ext cx="731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18904" y="417880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9CA3AF"/>
                </a:solidFill>
                <a:latin typeface="Calibri"/>
              </a:rPr>
              <a:t>SQLite Database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B82F6"/>
                </a:solidFill>
                <a:latin typeface="Calibri"/>
              </a:rPr>
              <a:t>06  ·  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Models &amp; Relationships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0116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365760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🏢  Organization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21284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🔑 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int — Auto increment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59689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Name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string(100) —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8094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🏷️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Type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Restaurant / Charity / NGO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364992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ContactEmail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Validated email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74904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Phone number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13308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Address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Location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51713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45171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1288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Pending / Verified / Suspended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90118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  <a:latin typeface="Segoe UI Emoji"/>
              </a:rPr>
              <a:t>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1288" y="49011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OwnerId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" y="50657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ASP.NET Identity User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33671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33671" y="1417320"/>
            <a:ext cx="3657600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33671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🍱  Donation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70831" y="221284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🔑 PK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83479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83479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int — Auto increment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70831" y="259689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83479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FoodItem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83479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string(100) — Food name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70831" y="298094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83479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Quantity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83479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string — Amount/servings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70831" y="3364992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🗓️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79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ExpiryDate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79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DateTime — When food expires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0831" y="3749040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🏷️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83479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83479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Prepared / Bakery / Dairy...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70831" y="4133088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83479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83479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Enum: Available/Claimed/Collected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70831" y="4517136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🔗 FK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79" y="451713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DonorId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83479" y="468172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Organization (Restaurant)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70831" y="4901184"/>
            <a:ext cx="594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B82F6"/>
                </a:solidFill>
                <a:latin typeface="Segoe UI Emoji"/>
              </a:rPr>
              <a:t>🔗 FK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83479" y="490118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RecipientId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79" y="506577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FK → Organization (Charity)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55862" y="1417320"/>
            <a:ext cx="3657600" cy="475488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55862" y="1417320"/>
            <a:ext cx="3657600" cy="685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55862" y="1536192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👤  ASP.NET Identity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05670" y="22128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AspNetUsers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05670" y="2377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Built-in user table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05670" y="2596896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AspNetRoles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05670" y="276148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Restaurant, Charity, Admin roles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05670" y="2980944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AspNetUserRoles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05670" y="3145536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User-role mapping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05670" y="3364992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Password Hashing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05670" y="3529584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BCrypt — secure storage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05670" y="374904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Cookie Auth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05670" y="3913632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Session-based authentication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05670" y="413308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Claims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05670" y="4297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B5563"/>
                </a:solidFill>
                <a:latin typeface="Calibri"/>
              </a:rPr>
              <a:t>Role claims for authorization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855F7"/>
                </a:solidFill>
                <a:latin typeface="Calibri"/>
              </a:rPr>
              <a:t>07  ·  AI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MealBot — AI Food Assistant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560320" cy="457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A855F7"/>
                </a:solidFill>
                <a:latin typeface="Segoe UI Emoji"/>
              </a:rP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Google Gemini 2.0 Flash
Latest &amp; fastest model from Google DeepMind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3B82F6"/>
                </a:solidFill>
                <a:latin typeface="Segoe UI Emoji"/>
              </a:rP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System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Custom instructions in GeminiAiService.cs
Contextualized for ShareMeal Pakistan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44475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7032" y="162763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10B981"/>
                </a:solidFill>
                <a:latin typeface="Segoe UI Emoji"/>
              </a:rPr>
              <a:t>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645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Bilingual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24942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Automatically detects Roman Urdu or English
Replies in the same language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9E0B"/>
                </a:solidFill>
                <a:latin typeface="Segoe UI Emoji"/>
              </a:rPr>
              <a:t>🎙️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Voice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Web Speech API integration
Speak → Text → AI responds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A855F7"/>
                </a:solidFill>
                <a:latin typeface="Segoe UI Emoji"/>
              </a:rPr>
              <a:t>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IGeminiAiService interface
Dependency Injection for loose coupling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3593592"/>
            <a:ext cx="3657600" cy="1920240"/>
          </a:xfrm>
          <a:prstGeom prst="rect">
            <a:avLst/>
          </a:prstGeom>
          <a:solidFill>
            <a:srgbClr val="0D1B2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57032" y="3776472"/>
            <a:ext cx="731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EF4444"/>
                </a:solidFill>
                <a:latin typeface="Segoe UI Emoji"/>
              </a:rPr>
              <a:t>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37947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4398264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API key stored as Railway environment variable
Never exposed in source code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08  ·  LIVE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Production Deployment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201168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72" y="1591056"/>
            <a:ext cx="41148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🐳 Dockerized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Multi-stage Dockerfile created
Build → ASP.NET SDK → Runtime image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9272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83864" y="1591056"/>
            <a:ext cx="411480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2504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📤 GitHub Push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Code pushed to GitHub repository
git add → commit → push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91656" y="1591056"/>
            <a:ext cx="411480" cy="41148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6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🚂 Railway 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Railway.app free tier
\$5/month credit — no card required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34856" y="1444752"/>
            <a:ext cx="2743200" cy="214884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9448" y="1591056"/>
            <a:ext cx="41148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9448" y="159105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2061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164592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🔄 Auto CI/CD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17736" y="2148840"/>
            <a:ext cx="248716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GitHub push triggers auto-deploy
Railway rebuilds Docker image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749039"/>
            <a:ext cx="11155680" cy="2468880"/>
          </a:xfrm>
          <a:prstGeom prst="rect">
            <a:avLst/>
          </a:prstGeom>
          <a:solidFill>
            <a:srgbClr val="0D1B2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8587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Deployment Achievements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43400"/>
            <a:ext cx="54864" cy="1600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🔐  HTTPS / SSL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Automatic secure certificate on Railway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7560" y="4343400"/>
            <a:ext cx="54864" cy="1600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B82F6"/>
                </a:solidFill>
                <a:latin typeface="Calibri"/>
              </a:rPr>
              <a:t>🌍  Global Access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Anyone worldwide can access the website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4343400"/>
            <a:ext cx="54864" cy="1600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855F7"/>
                </a:solidFill>
                <a:latin typeface="Calibri"/>
              </a:rPr>
              <a:t>⚡  Zero Downtime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Railway keeps service always online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60" y="4343400"/>
            <a:ext cx="54864" cy="1600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4389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🔑  Secure API Keys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480060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  <a:latin typeface="Calibri"/>
              </a:rPr>
              <a:t>Keys stored as environment variables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577840"/>
            <a:ext cx="11155680" cy="594360"/>
          </a:xfrm>
          <a:prstGeom prst="rect">
            <a:avLst/>
          </a:prstGeom>
          <a:solidFill>
            <a:srgbClr val="052E1E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6875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Calibri"/>
              </a:rPr>
              <a:t>🌐  Live URL:  https://sharemeal-platform-production.up.railway.app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09  ·  TEAM &amp; SUPERVISOR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Meet the People Behind ShareMeal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3200400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155680" cy="1371600"/>
          </a:xfrm>
          <a:prstGeom prst="rect">
            <a:avLst/>
          </a:prstGeom>
          <a:solidFill>
            <a:srgbClr val="0D1B2A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109728" cy="13716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81328"/>
            <a:ext cx="777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59E0B"/>
                </a:solidFill>
                <a:latin typeface="Segoe UI Emoji"/>
              </a:rPr>
              <a:t>👩‍🏫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1481328"/>
            <a:ext cx="4572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Prof. Kinat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Project Supervisor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1572768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CA3AF"/>
                </a:solidFill>
                <a:latin typeface="Calibri"/>
              </a:rPr>
              <a:t>University of Southern Punjab, Multan  ·  Computer Science Department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7510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B5563"/>
                </a:solidFill>
                <a:latin typeface="Calibri"/>
              </a:rPr>
              <a:t>FYP Supervisor — Guided and supervised the ShareMeal Platform Final Year Project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77840" cy="3611880"/>
          </a:xfrm>
          <a:prstGeom prst="rect">
            <a:avLst/>
          </a:prstGeom>
          <a:solidFill>
            <a:srgbClr val="0D1B2A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80"/>
            <a:ext cx="55778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3580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20617"/>
                </a:solidFill>
                <a:latin typeface="Calibri"/>
              </a:rPr>
              <a:t>👨‍💻  Muhammad Khulfan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511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0617"/>
                </a:solidFill>
                <a:latin typeface="Calibri"/>
              </a:rPr>
              <a:t>Lead Developer &amp; iOS Engineer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82219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🎓  BSCS — University of Southern Punjab, Multan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79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📍  South Punjab, Pakistan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773167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💼  iOS Engineer &amp; Full Stack .NET Developer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248655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🚀  Built ShareMeal from scratch: Architecture, AI, UI,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724143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🤖  Integrated Google Gemini AI — MealBot chatbot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19963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🌍  Deployed on Railway.app with Docker &amp; 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2926080"/>
            <a:ext cx="5577840" cy="3611880"/>
          </a:xfrm>
          <a:prstGeom prst="rect">
            <a:avLst/>
          </a:prstGeom>
          <a:solidFill>
            <a:srgbClr val="0D1B2A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2926080"/>
            <a:ext cx="5577840" cy="7772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035808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020617"/>
                </a:solidFill>
                <a:latin typeface="Calibri"/>
              </a:rPr>
              <a:t>💻  Abdullah Khalid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511296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20617"/>
                </a:solidFill>
                <a:latin typeface="Calibri"/>
              </a:rPr>
              <a:t>Team Member &amp; Developer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3822191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🎓  BSCS — Computer Science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297679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🤝  Team Member — ShareMeal FYP Project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4773167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💡  Contributed to development and project collaboration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248655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📚  University of Southern Punjab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0" y="457200"/>
            <a:ext cx="64008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0" b="0" i="0">
                <a:solidFill>
                  <a:srgbClr val="052012"/>
                </a:solidFill>
                <a:latin typeface="Segoe UI Emoji"/>
              </a:rPr>
              <a:t>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48840"/>
            <a:ext cx="758952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9CA3AF"/>
                </a:solidFill>
                <a:latin typeface="Calibri"/>
              </a:rPr>
              <a:t>ShareMeal — Connecting food-surplus restaurants with food-deficient charities.
Reducing food waste. Fighting hunger. Building a better Pakistan. 🇵🇰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0B981"/>
                </a:solidFill>
                <a:latin typeface="Calibri"/>
              </a:rPr>
              <a:t>🎓  BSCS Final Year Project   |   University of Southern Punjab, Multan   | 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221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B5563"/>
                </a:solidFill>
                <a:latin typeface="Calibri"/>
              </a:rPr>
              <a:t>Supervisor: Prof. Kinat   |   Developers: Muhammad Khulfan &amp; Abdullah Khalid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434840"/>
            <a:ext cx="384048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4434840"/>
            <a:ext cx="3840480" cy="594360"/>
          </a:xfrm>
          <a:prstGeom prst="rect">
            <a:avLst/>
          </a:prstGeom>
          <a:noFill/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526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0B981"/>
                </a:solidFill>
                <a:latin typeface="Calibri"/>
              </a:rPr>
              <a:t>🌍  Live Website: sharemeal-platform-production.up.railway.app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4434840"/>
            <a:ext cx="3840480" cy="5943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06440" y="4434840"/>
            <a:ext cx="3840480" cy="594360"/>
          </a:xfrm>
          <a:prstGeom prst="rect">
            <a:avLst/>
          </a:prstGeom>
          <a:noFill/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45262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B82F6"/>
                </a:solidFill>
                <a:latin typeface="Calibri"/>
              </a:rPr>
              <a:t>💻  GitHub: github.com/Khulfan42/ShareMeal-Platform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035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Questions &amp; Discussion Welcome  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